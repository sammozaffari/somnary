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889606ec554a46" /><Relationship Type="http://schemas.openxmlformats.org/officeDocument/2006/relationships/extended-properties" Target="/docProps/app.xml" Id="Rd2ada1b5f0ee419f" /><Relationship Type="http://schemas.openxmlformats.org/officeDocument/2006/relationships/officeDocument" Target="/ppt/presentation.xml" Id="R3113c64aa32e42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ec9abee4514652"/>
  </p:sldMasterIdLst>
  <p:notesMasterIdLst>
    <p:notesMasterId xmlns:r="http://schemas.openxmlformats.org/officeDocument/2006/relationships" r:id="R61810f821bc04ee7"/>
  </p:notesMasterIdLst>
  <p:sldIdLst>
    <p:sldId xmlns:r="http://schemas.openxmlformats.org/officeDocument/2006/relationships" id="256" r:id="R97236873716e4dea"/>
    <p:sldId xmlns:r="http://schemas.openxmlformats.org/officeDocument/2006/relationships" id="257" r:id="R8b4dcd9e2592412e"/>
    <p:sldId xmlns:r="http://schemas.openxmlformats.org/officeDocument/2006/relationships" id="258" r:id="Rf7ac56f7a30d4df6"/>
    <p:sldId xmlns:r="http://schemas.openxmlformats.org/officeDocument/2006/relationships" id="259" r:id="R0c01a5feb82a44e1"/>
    <p:sldId xmlns:r="http://schemas.openxmlformats.org/officeDocument/2006/relationships" id="260" r:id="R838f531688b54c35"/>
    <p:sldId xmlns:r="http://schemas.openxmlformats.org/officeDocument/2006/relationships" id="261" r:id="R449888bbf26a4798"/>
    <p:sldId xmlns:r="http://schemas.openxmlformats.org/officeDocument/2006/relationships" id="262" r:id="Rc695dd4d89f54e67"/>
    <p:sldId xmlns:r="http://schemas.openxmlformats.org/officeDocument/2006/relationships" id="263" r:id="R2382ff959554494f"/>
    <p:sldId xmlns:r="http://schemas.openxmlformats.org/officeDocument/2006/relationships" id="264" r:id="R61669061c5574f60"/>
    <p:sldId xmlns:r="http://schemas.openxmlformats.org/officeDocument/2006/relationships" id="265" r:id="Reea83a357bb6493d"/>
    <p:sldId xmlns:r="http://schemas.openxmlformats.org/officeDocument/2006/relationships" id="266" r:id="R10662ac3662a450a"/>
    <p:sldId xmlns:r="http://schemas.openxmlformats.org/officeDocument/2006/relationships" id="267" r:id="R652ddc26169f4885"/>
    <p:sldId xmlns:r="http://schemas.openxmlformats.org/officeDocument/2006/relationships" id="268" r:id="Rc3c892cdcaea483d"/>
    <p:sldId xmlns:r="http://schemas.openxmlformats.org/officeDocument/2006/relationships" id="269" r:id="R6316d856715442f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a5e841a70b4447" /><Relationship Type="http://schemas.openxmlformats.org/officeDocument/2006/relationships/slideMaster" Target="/ppt/slideMasters/slideMaster1.xml" Id="R10ec9abee4514652" /><Relationship Type="http://schemas.openxmlformats.org/officeDocument/2006/relationships/notesMaster" Target="/ppt/notesMasters/notesMaster1.xml" Id="R61810f821bc04ee7" /><Relationship Type="http://schemas.openxmlformats.org/officeDocument/2006/relationships/presProps" Target="/ppt/presProps.xml" Id="R0d6b8e39ab3147ac" /><Relationship Type="http://schemas.openxmlformats.org/officeDocument/2006/relationships/tableStyles" Target="/ppt/tableStyles.xml" Id="R63615aff595a4d17" /><Relationship Type="http://schemas.openxmlformats.org/officeDocument/2006/relationships/slide" Target="/ppt/slides/slide1.xml" Id="R97236873716e4dea" /><Relationship Type="http://schemas.openxmlformats.org/officeDocument/2006/relationships/slide" Target="/ppt/slides/slide2.xml" Id="R8b4dcd9e2592412e" /><Relationship Type="http://schemas.openxmlformats.org/officeDocument/2006/relationships/slide" Target="/ppt/slides/slide3.xml" Id="Rf7ac56f7a30d4df6" /><Relationship Type="http://schemas.openxmlformats.org/officeDocument/2006/relationships/slide" Target="/ppt/slides/slide4.xml" Id="R0c01a5feb82a44e1" /><Relationship Type="http://schemas.openxmlformats.org/officeDocument/2006/relationships/slide" Target="/ppt/slides/slide5.xml" Id="R838f531688b54c35" /><Relationship Type="http://schemas.openxmlformats.org/officeDocument/2006/relationships/slide" Target="/ppt/slides/slide6.xml" Id="R449888bbf26a4798" /><Relationship Type="http://schemas.openxmlformats.org/officeDocument/2006/relationships/slide" Target="/ppt/slides/slide7.xml" Id="Rc695dd4d89f54e67" /><Relationship Type="http://schemas.openxmlformats.org/officeDocument/2006/relationships/slide" Target="/ppt/slides/slide8.xml" Id="R2382ff959554494f" /><Relationship Type="http://schemas.openxmlformats.org/officeDocument/2006/relationships/slide" Target="/ppt/slides/slide9.xml" Id="R61669061c5574f60" /><Relationship Type="http://schemas.openxmlformats.org/officeDocument/2006/relationships/slide" Target="/ppt/slides/slide10.xml" Id="Reea83a357bb6493d" /><Relationship Type="http://schemas.openxmlformats.org/officeDocument/2006/relationships/slide" Target="/ppt/slides/slide11.xml" Id="R10662ac3662a450a" /><Relationship Type="http://schemas.openxmlformats.org/officeDocument/2006/relationships/slide" Target="/ppt/slides/slide12.xml" Id="R652ddc26169f4885" /><Relationship Type="http://schemas.openxmlformats.org/officeDocument/2006/relationships/slide" Target="/ppt/slides/slide13.xml" Id="Rc3c892cdcaea483d" /><Relationship Type="http://schemas.openxmlformats.org/officeDocument/2006/relationships/slide" Target="/ppt/slides/slide14.xml" Id="R6316d856715442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38849ec4b240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27ed9a14b64f64" /><Relationship Type="http://schemas.openxmlformats.org/officeDocument/2006/relationships/notesMaster" Target="/ppt/notesMasters/notesMaster1.xml" Id="R6268301938de45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6f2d878eb8466d" /><Relationship Type="http://schemas.openxmlformats.org/officeDocument/2006/relationships/notesMaster" Target="/ppt/notesMasters/notesMaster1.xml" Id="Rb36239d3870c41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e7b8aa7f4e448e" /><Relationship Type="http://schemas.openxmlformats.org/officeDocument/2006/relationships/notesMaster" Target="/ppt/notesMasters/notesMaster1.xml" Id="R65dadaedc8c641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f19431164245f7" /><Relationship Type="http://schemas.openxmlformats.org/officeDocument/2006/relationships/notesMaster" Target="/ppt/notesMasters/notesMaster1.xml" Id="Rf5573a4264914f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cf55b0fced42b0" /><Relationship Type="http://schemas.openxmlformats.org/officeDocument/2006/relationships/notesMaster" Target="/ppt/notesMasters/notesMaster1.xml" Id="R38dd2584203246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c2bc8fff014a15" /><Relationship Type="http://schemas.openxmlformats.org/officeDocument/2006/relationships/notesMaster" Target="/ppt/notesMasters/notesMaster1.xml" Id="R78623141dab14a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d6b679bdb348d4" /><Relationship Type="http://schemas.openxmlformats.org/officeDocument/2006/relationships/notesMaster" Target="/ppt/notesMasters/notesMaster1.xml" Id="R876a47960f6d4e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65fece8ed544e8" /><Relationship Type="http://schemas.openxmlformats.org/officeDocument/2006/relationships/notesMaster" Target="/ppt/notesMasters/notesMaster1.xml" Id="Rb01976037e144f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5fc53123d545e6" /><Relationship Type="http://schemas.openxmlformats.org/officeDocument/2006/relationships/notesMaster" Target="/ppt/notesMasters/notesMaster1.xml" Id="R365426d896ea4d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892daa43444955" /><Relationship Type="http://schemas.openxmlformats.org/officeDocument/2006/relationships/notesMaster" Target="/ppt/notesMasters/notesMaster1.xml" Id="R9f9842e6ce2b40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13ec46c0334fab" /><Relationship Type="http://schemas.openxmlformats.org/officeDocument/2006/relationships/notesMaster" Target="/ppt/notesMasters/notesMaster1.xml" Id="R462dbeff5cad4a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51ca4cce844bfd" /><Relationship Type="http://schemas.openxmlformats.org/officeDocument/2006/relationships/notesMaster" Target="/ppt/notesMasters/notesMaster1.xml" Id="R0ca0f87b82b04b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38fdb37ec5415f" /><Relationship Type="http://schemas.openxmlformats.org/officeDocument/2006/relationships/notesMaster" Target="/ppt/notesMasters/notesMaster1.xml" Id="R741491b7263c48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2c5a73a6f1481d" /><Relationship Type="http://schemas.openxmlformats.org/officeDocument/2006/relationships/notesMaster" Target="/ppt/notesMasters/notesMaster1.xml" Id="R4acf27a2e3624d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14d1aaf4348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5e193958ea495e" /><Relationship Type="http://schemas.openxmlformats.org/officeDocument/2006/relationships/slideLayout" Target="/ppt/slideLayouts/slideLayout1.xml" Id="R7fe1b31e3ec449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e1b31e3ec449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8ba1a5af946a7" /><Relationship Type="http://schemas.openxmlformats.org/officeDocument/2006/relationships/notesSlide" Target="/ppt/notesSlides/notesSlide1.xml" Id="R69ea9ada35374c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f5ad3370648ab" /><Relationship Type="http://schemas.openxmlformats.org/officeDocument/2006/relationships/notesSlide" Target="/ppt/notesSlides/notesSlide2.xml" Id="R0bd853ea6fe341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079b145a5496c" /><Relationship Type="http://schemas.openxmlformats.org/officeDocument/2006/relationships/notesSlide" Target="/ppt/notesSlides/notesSlide3.xml" Id="Rc1ecad78851648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f3492a46c4dc9" /><Relationship Type="http://schemas.openxmlformats.org/officeDocument/2006/relationships/notesSlide" Target="/ppt/notesSlides/notesSlide4.xml" Id="R00f7135bde8a40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ea5cc8ec84530" /><Relationship Type="http://schemas.openxmlformats.org/officeDocument/2006/relationships/notesSlide" Target="/ppt/notesSlides/notesSlide5.xml" Id="Ra8174ebafe8148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b7f4ea0234ffc" /><Relationship Type="http://schemas.openxmlformats.org/officeDocument/2006/relationships/notesSlide" Target="/ppt/notesSlides/notesSlide6.xml" Id="R16985917998b4a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ef33b00d54b92" /><Relationship Type="http://schemas.openxmlformats.org/officeDocument/2006/relationships/notesSlide" Target="/ppt/notesSlides/notesSlide7.xml" Id="R589db474819d41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ba049de164233" /><Relationship Type="http://schemas.openxmlformats.org/officeDocument/2006/relationships/notesSlide" Target="/ppt/notesSlides/notesSlide8.xml" Id="R7b022153fcb043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323fac4c844a4" /><Relationship Type="http://schemas.openxmlformats.org/officeDocument/2006/relationships/notesSlide" Target="/ppt/notesSlides/notesSlide9.xml" Id="R90658a9aab1046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295efffdb4c70" /><Relationship Type="http://schemas.openxmlformats.org/officeDocument/2006/relationships/notesSlide" Target="/ppt/notesSlides/notesSlide10.xml" Id="Ra176ef0ec5d840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fdd4d7f094dc2" /><Relationship Type="http://schemas.openxmlformats.org/officeDocument/2006/relationships/notesSlide" Target="/ppt/notesSlides/notesSlide11.xml" Id="R02ae6e0fe6f549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89957d7864c94" /><Relationship Type="http://schemas.openxmlformats.org/officeDocument/2006/relationships/notesSlide" Target="/ppt/notesSlides/notesSlide12.xml" Id="R43a5996094da49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c686c60114fcc" /><Relationship Type="http://schemas.openxmlformats.org/officeDocument/2006/relationships/notesSlide" Target="/ppt/notesSlides/notesSlide13.xml" Id="R293855ac078f4a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3cd191a434726" /><Relationship Type="http://schemas.openxmlformats.org/officeDocument/2006/relationships/notesSlide" Target="/ppt/notesSlides/notesSlide14.xml" Id="Rf7fd2c6e55ba4e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B85838-BC65-4098-A9EC-EC85D3DC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B0B0B"/>
                </a:solidFill>
              </a:defRPr>
            </a:pPr>
            <a:r>
              <a:rPr sz="5400" b="1">
                <a:solidFill>
                  <a:srgbClr val="0B0B0B"/>
                </a:solidFill>
              </a:rPr>
              <a:t>Somnary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4D7C3-0756-4AC2-A7B3-16963146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The evidence layer for natural sleep remedies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FFB8D-37CB-456A-8980-E1CE8DF8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6858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23F30-5040-41C4-8328-0DDA718C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28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B0B0B"/>
                </a:solidFill>
              </a:defRPr>
            </a:pPr>
            <a:r>
              <a:rPr sz="2100" b="0">
                <a:solidFill>
                  <a:srgbClr val="0B0B0B"/>
                </a:solidFill>
              </a:rPr>
              <a:t>A strategy to turn a credible remedy library into a trusted decision system: evidence, label reality, safety boundaries, AI discipline, and repeatable growth.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04E22-F789-43B5-A1E8-EDA655FF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95350"/>
            <a:ext cx="2857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02ED2-5961-4651-B0DC-0EC03630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85900"/>
            <a:ext cx="209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No affiliate links</a:t>
            </a:r>
          </a:p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No brand money</a:t>
            </a:r>
          </a:p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No invented certainty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C0992-5A25-436E-A2CE-856B17D1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Prepared as a working pitch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F7BF2-2E97-4BA6-993B-9D23DE8D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879406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62D3E3-CE41-43BF-82FB-19C218B0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SOMNARY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47DBB-5B07-46E7-9BAC-E6914CCF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People are tired, self-treating, and under-informed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C081C-B57A-44CD-A9F3-CFF082EC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Sleep aid use is common enough to support a focused evidence product.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9F1F9-FB9E-41A9-9484-F0F4795F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45430-AED3-44BF-AAEC-333196E6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BA3EC-3112-4FFF-831E-B5ADF67E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6B35"/>
                </a:solidFill>
              </a:defRPr>
            </a:pPr>
            <a:r>
              <a:rPr sz="3600" b="1">
                <a:solidFill>
                  <a:srgbClr val="FF6B35"/>
                </a:solidFill>
              </a:rPr>
              <a:t>12.9%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03891-035D-4642-887A-8E916180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6860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US adults using some sleep aid most days or every day in 2024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FF13E-9381-4FD4-9410-18A702C8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527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05804-6506-4971-94F9-CC79A4F1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813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5.7%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1BC26-97D3-4BC3-A5A3-22A7E098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86200"/>
            <a:ext cx="26860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US adults using OTC medications or supplements for sleep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7A63B-3009-450E-BBB5-D7A6855D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527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D97E4-368F-464C-9199-73D673D4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813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6B4F"/>
                </a:solidFill>
              </a:defRPr>
            </a:pPr>
            <a:r>
              <a:rPr sz="3600" b="1">
                <a:solidFill>
                  <a:srgbClr val="2F6B4F"/>
                </a:solidFill>
              </a:rPr>
              <a:t>3.7%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B7E46-1CB3-42FA-A49A-EB6C9FDF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86200"/>
            <a:ext cx="26860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US adults using marijuana or CBD products as sleep aids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27C6A-8A61-4CC8-B6A8-B63F3254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Source: CDC/NCHS 2024 sleep-aid use report.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0D674-7662-4DCF-B523-C6496EED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8552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168D40-9F8B-4690-B91A-F5EE5407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SOMNARY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00803-0940-4F8F-B2B6-009BD722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The category has a trust gap, not just an information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DBED8-CD5F-402A-833C-F0189F11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The best wedge is where consumer behavior, product-label weakness, and safety uncertainty collide.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B4050-0A16-49D9-9B73-F4F8A561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095D7-4BE7-4522-B05B-F3FA75E1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9795B-F0BC-417C-B0AC-0E6CE6E0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939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Melatonin use rose from 0.4% to 2.1% of US adults from 1999-2000 to 2017-2018.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D0F42-2B48-4BA3-B307-5B97CB76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BA305-BB57-4CD6-9AA7-491B7C03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0"/>
            <a:ext cx="939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JAMA found melatonin gummies ranged from 74% to 347% of the labeled amount.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4B13A-5E8B-44A1-82C7-93A1B46D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3EF19-3F0D-456A-9215-75C94927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939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NCCIH says short-term melatonin appears relatively safe, but long-term safety is not established.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2FF7F-C2C2-46AB-8379-E1342B23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68234-6EBB-4A11-9BEE-C82B17CD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67250"/>
            <a:ext cx="939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CBT-I has first-line guideline support, but supplement marketing dominates the consumer conversation.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2145D-733C-456A-9691-AA35B5E7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B0B"/>
                </a:solidFill>
              </a:defRPr>
            </a:pPr>
            <a:r>
              <a:rPr sz="2100" b="1">
                <a:solidFill>
                  <a:srgbClr val="0B0B0B"/>
                </a:solidFill>
              </a:rPr>
              <a:t>Implication: Somnary should sell clarity before it sells features.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5D144-DB78-4198-B3D5-6B90A166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62793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5D42B0-65ED-4AC8-8D85-3A983416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SOMNARY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8A08C-F4B0-48B4-A182-B36FAA0D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Somnary wins by being the accountable evidence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D8AF6-D477-4611-AA89-8313F94A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The moat is not sleep content. It is trusted interpretation.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29CC4-984E-4CF4-AE25-F30303FB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C4A4E-C490-45A5-AA2A-11CDA57E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D82AC-B6D2-433A-B153-8C890514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Evidence grade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240CD-9253-4B68-B761-D94C4B9F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Human evidence, effect size, replication, dose, form, and safety gates.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56531-4EA0-495D-9468-88A38918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1465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315F0-6F2F-40AE-BA56-4DA6A460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432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Label reality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A8215-8A45-487A-94CE-15AC8FE6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38550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Studied dose versus market dose, proprietary blends, standardization, and product QA.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C44CB-87D0-45C4-92C6-C0BD4C85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1465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0E442-3E8C-450E-90BF-EBCB34A2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Safety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A599A-9A61-441B-A345-DDD9B064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Children, pregnancy, medications, liver/kidney risk, next-day impairment, clinician routing.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1F029-D6B5-4B37-9ACE-941B397A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71617-BDD8-4104-BAEC-0CDE0220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432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Conflict-free stance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2748A-AD2A-4ABD-921F-11D3274F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38550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No affiliate links, no brand money, public methodology, public corrections.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A5111-8D9D-4D93-938D-E1BD11A7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051645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EBDA2C-EBAF-4EBA-81F4-B373F33C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SOMNARY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99BF4-C162-479B-8B73-41C82B7C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Recommended audience: the evidence-seeking sleep improver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086D5C-6E22-46B6-A511-8E06A2A9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Do not build for everyone who sleeps. Build for people making a remedy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0A7EA-E23C-4E39-8FFC-7D9186D8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F0449-10A0-413C-8208-06A43EFA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2B4F5-872A-45CA-B54B-6D4D2E24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Primary persona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2A3A2-3129-4A25-BF63-87DB64DE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419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Tired, skeptical, considering melatonin, magnesium, CBD, valerian, L-theanine, ashwagandha, or a sleep blend. Wants the truth without being sold a bottle.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EBE19-CEDD-4E69-B2AC-B2FA84D4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95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7FB0B-4C75-4917-BC55-300D22C3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9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Cautious caregivers and parents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CB7F2-A5B4-4356-AA5A-04F007E0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5BBF0-828F-4527-9FEA-57759C9C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4805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Older adults and medication 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279EB-6D32-4AC6-8CEF-6B8366C9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71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23906-A516-42B3-A909-126DE34A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862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Anxious poor sleepers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A576B-1421-4A4A-A121-B815F2CF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0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EFC73-2E47-4783-AB72-EF3C2436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2435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Shift workers and travelers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D561F-607E-4AC6-9F90-FE780864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48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37E7E7-9F6A-49AC-94B3-84E8B9CA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B0B"/>
                </a:solidFill>
              </a:defRPr>
            </a:pPr>
            <a:r>
              <a:rPr sz="1500" b="0">
                <a:solidFill>
                  <a:srgbClr val="0B0B0B"/>
                </a:solidFill>
              </a:rPr>
              <a:t>Clinicians, pharmacists, journalists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4D2C1-4AD7-4105-947C-F7176C3D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20047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AAF117-1320-45AC-8033-6B4560D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SOMNARY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82860-3048-41CF-81A3-8E7CB25A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The IA should start from user intent, not remedy taxonomy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C0BE1-4411-4788-B255-79AAA210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Most visitors arrive with a situation: a bottle, a goal, a child, a medication, or a symptom.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0EBE4-27FB-421A-91D7-C794903C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C757E-5CD0-4995-A10D-36D39BA8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23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D6995-7CE3-4F50-BF44-4352FEE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1009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Start Here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5CA3E-DC95-495B-B290-04F3A762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3528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94610-9BCB-469B-B63D-928996AA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43250"/>
            <a:ext cx="123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AC72A-6E24-4AEB-BDFA-BFAADE88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371850"/>
            <a:ext cx="1009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B0B"/>
                </a:solidFill>
              </a:defRPr>
            </a:pPr>
            <a:r>
              <a:rPr sz="1425" b="1">
                <a:solidFill>
                  <a:srgbClr val="0B0B0B"/>
                </a:solidFill>
              </a:rPr>
              <a:t>Remedies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BD47A-5826-40E9-90B8-DFA52353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3528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41C63-1FCF-45A9-870A-8E7D976A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43250"/>
            <a:ext cx="123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CC3A5-202C-4328-BB66-AFBFF350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71850"/>
            <a:ext cx="1009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B0B"/>
                </a:solidFill>
              </a:defRPr>
            </a:pPr>
            <a:r>
              <a:rPr sz="1425" b="1">
                <a:solidFill>
                  <a:srgbClr val="0B0B0B"/>
                </a:solidFill>
              </a:rPr>
              <a:t>Goals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C505C-5FB1-4775-910D-2339539C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528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C35E3-CB28-4BF9-B1CB-E9CCAC05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43250"/>
            <a:ext cx="123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1E28A-194B-47CF-B479-31AB7149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371850"/>
            <a:ext cx="1009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B0B"/>
                </a:solidFill>
              </a:defRPr>
            </a:pPr>
            <a:r>
              <a:rPr sz="1425" b="1">
                <a:solidFill>
                  <a:srgbClr val="0B0B0B"/>
                </a:solidFill>
              </a:rPr>
              <a:t>Safety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9F76BE-FC09-40CA-AFAA-413937AF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3528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2A4016-9A31-429A-9C23-043B6072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123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9F7E28-1B0E-4969-AC84-5B815EB5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71850"/>
            <a:ext cx="1009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B0B"/>
                </a:solidFill>
              </a:defRPr>
            </a:pPr>
            <a:r>
              <a:rPr sz="1425" b="1">
                <a:solidFill>
                  <a:srgbClr val="0B0B0B"/>
                </a:solidFill>
              </a:rPr>
              <a:t>Label Checker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C9107-918E-44F3-BB6B-5EF0B61F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528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A189D-8B5A-4059-AAB8-EB5ADC08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123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C7328A-FF28-4C57-B81B-92F83227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371850"/>
            <a:ext cx="1009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B0B"/>
                </a:solidFill>
              </a:defRPr>
            </a:pPr>
            <a:r>
              <a:rPr sz="1425" b="1">
                <a:solidFill>
                  <a:srgbClr val="0B0B0B"/>
                </a:solidFill>
              </a:rPr>
              <a:t>Evidence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803933-E376-4335-A214-C58F6ED1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3528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9F8C54-9FD1-4E2B-87DB-601D8F5A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1238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DB3F87-9B14-440B-B490-C9E10BDE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371850"/>
            <a:ext cx="1009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0B0B"/>
                </a:solidFill>
              </a:defRPr>
            </a:pPr>
            <a:r>
              <a:rPr sz="1425" b="1">
                <a:solidFill>
                  <a:srgbClr val="0B0B0B"/>
                </a:solidFill>
              </a:rPr>
              <a:t>Community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A93924-59AE-4047-86AD-10D10D08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B0B"/>
                </a:solidFill>
              </a:defRPr>
            </a:pPr>
            <a:r>
              <a:rPr sz="2100" b="1">
                <a:solidFill>
                  <a:srgbClr val="0B0B0B"/>
                </a:solidFill>
              </a:rPr>
              <a:t>Homepage job: answer “What is this, who is it for, what should I check first?” in under 8 seconds.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6F0B28-2C90-4A56-BE90-268D025B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259390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206417-0F3E-4D01-962C-7FC4965C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SOMNARY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0B2FD-E2C9-4EBF-BA03-42E9BE3C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The content engine should run on claim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7B5DC-FB14-4506-92D7-C3B73854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Somnary should publish fewer generic tips and more evidence verdicts.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E0258-1A4E-4233-9984-F3523AC2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A649D-0459-4D3A-882C-E8DE9DC5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48A4F-1869-4D64-BC44-17B6AEC0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B0B"/>
                </a:solidFill>
              </a:defRPr>
            </a:pPr>
            <a:r>
              <a:rPr sz="1500" b="1">
                <a:solidFill>
                  <a:srgbClr val="0B0B0B"/>
                </a:solidFill>
              </a:rPr>
              <a:t>Remedy truth pages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6AC14-E3ED-4472-B0F9-4F56D1F0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337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Deep evidence reviews and grade gates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D8E03-2667-4F8D-A07B-A30000A4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24054-A9FC-4D63-AF79-0C51D884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B0B"/>
                </a:solidFill>
              </a:defRPr>
            </a:pPr>
            <a:r>
              <a:rPr sz="1500" b="1">
                <a:solidFill>
                  <a:srgbClr val="0B0B0B"/>
                </a:solidFill>
              </a:rPr>
              <a:t>Decision 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2E2C7-0B90-47C2-B774-CF8A865B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24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Should I try X for 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7227B-9756-4ECE-A25F-7269798F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9D0E2-B9F4-4297-BC4F-81FA286A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B0B"/>
                </a:solidFill>
              </a:defRPr>
            </a:pPr>
            <a:r>
              <a:rPr sz="1500" b="1">
                <a:solidFill>
                  <a:srgbClr val="0B0B0B"/>
                </a:solidFill>
              </a:rPr>
              <a:t>Safety pages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BE8FB-A7F7-4FFC-A54F-3FA34C95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148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Audience and risk-specific boundaries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85810-7F39-4FD9-8BE1-C51E0495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5D2A1-6AC2-499C-B3FF-4DEFAB47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B0B"/>
                </a:solidFill>
              </a:defRPr>
            </a:pPr>
            <a:r>
              <a:rPr sz="1500" b="1">
                <a:solidFill>
                  <a:srgbClr val="0B0B0B"/>
                </a:solidFill>
              </a:rPr>
              <a:t>Label pages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6E86E-E3DC-4F38-866A-12393FC4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053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Dose, form, standardization, and proprietary blends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BFF42A-2ECC-4586-A761-110CF031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B30A8-A6EE-45F2-A998-79F7B642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B0B"/>
                </a:solidFill>
              </a:defRPr>
            </a:pPr>
            <a:r>
              <a:rPr sz="1500" b="1">
                <a:solidFill>
                  <a:srgbClr val="0B0B0B"/>
                </a:solidFill>
              </a:rPr>
              <a:t>Evidence watch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65AC72-ABD1-4FC5-9BCB-667332D0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95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New trials, corrections, and grade changes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3E3A07-0617-4DCB-8F04-17E7594A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168312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A1CE65-5F87-4A74-AB4E-0B21AC59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SOMNARY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5DDD2-24CE-4600-A425-EBA6DD32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AI should explain the corpus, not become the clinician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47233-4936-46D6-B644-874D0273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The assistant is valuable only if it stays inside Somnary’s reviewed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7DD16-DADD-434F-A472-AC4FE52B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76151-789D-45A1-A238-A5F7C1A0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4572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7074A-FEE0-4FC9-9E2E-FD8AD547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B4F"/>
                </a:solidFill>
              </a:defRPr>
            </a:pPr>
            <a:r>
              <a:rPr sz="2100" b="1">
                <a:solidFill>
                  <a:srgbClr val="2F6B4F"/>
                </a:solidFill>
              </a:rPr>
              <a:t>Allowed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32FBB-80C4-4A9F-8942-A777909D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9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61B50-0151-4598-9E59-6D48140C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33800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Summarize reviewed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FB8D7-C170-4C30-A5E9-71A3C114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81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9774A-3811-4783-ADE5-6E46268F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95750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Compare evidence gates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9A299-4583-4771-A128-D3EDA325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43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5DDA5-1FF8-40FB-8F6D-6AAAC6B0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57700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Explain uncertainty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109E2-84B2-4AF3-AA4A-2316BDFE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05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70577-82D6-407C-8531-B8CA8D19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19650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Route safety risks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30AD2-91C4-4526-8BC9-CD6FE57B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90850"/>
            <a:ext cx="4572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271A6-1264-4531-80B7-B7850146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B1C1C"/>
                </a:solidFill>
              </a:defRPr>
            </a:pPr>
            <a:r>
              <a:rPr sz="2100" b="1">
                <a:solidFill>
                  <a:srgbClr val="9B1C1C"/>
                </a:solidFill>
              </a:rPr>
              <a:t>Not allowed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D0CA9-0842-4DD1-B237-6D0D19D9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9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06075-3C80-4DB6-B216-8E03F3EC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33800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Diagnose conditions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39A310-AD7D-4C5B-B008-4FF5BBAE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81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194CF1-4C66-44A5-A73A-62F50A5A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Personalize dosage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1149C2-F6C2-4EE9-86DB-3FFFF239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43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C9815-5077-4F9F-8ECC-1083107A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57700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Build supplement stacks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6F4A6C-B722-4EF3-8BE0-E4CA6693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05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24245-B07C-4F41-9A72-1342BEC8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19650"/>
            <a:ext cx="348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Invent or outrank sources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D85C3D-8F4E-464F-B8D2-43B372CF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B0B"/>
                </a:solidFill>
              </a:defRPr>
            </a:pPr>
            <a:r>
              <a:rPr sz="2250" b="1">
                <a:solidFill>
                  <a:srgbClr val="0B0B0B"/>
                </a:solidFill>
              </a:rPr>
              <a:t>Rule: AI may summarize Somnary. It may not outrank Somnary.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A96392-DDB7-4C72-9340-554C9C91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301969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0598C4-FB47-4E03-9806-2C6E9B3B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SOMNARY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A4BFE-9603-43C6-95D7-1D56B396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Growth should make bad claims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3FB7E-306E-4B56-A20C-D4C49D22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The repeatable hook is simple: “We checked the claim.”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DA4E1-CF58-4762-B958-1D1F5CB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0531C-D4DD-4518-B410-A7E8AAE8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304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E88CB-5CD4-435E-BC17-DBDA29DD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SEO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EC106-60F2-41D6-824E-0E0EB773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Remedy + goal queries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5B213-CDD2-4B44-823F-FB9D8698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71800"/>
            <a:ext cx="304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31D99-37FB-4104-9B14-5DC18F13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Newsletter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4F840-98AF-4034-949E-25C4FEEB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86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One claim checked weekly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58E5A-50D4-414F-A70B-C988C8C8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71800"/>
            <a:ext cx="304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522EA-BDCC-457B-9E16-9336AC4C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YouTube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6CEB02-1F13-472F-BC39-3E7034D2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86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Label teardowns + explainers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B912F-488A-4B72-A2A1-F55ACA45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304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5D8AB-DC67-4963-A555-72B84607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TikTok / IG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CD5DF7-FAE8-4B93-992B-AFA0D7E7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00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Fast myth correction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2B338-3F98-4BAC-8FB8-656FCF40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86250"/>
            <a:ext cx="304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C03F3-A699-45FD-ADD1-C2F85B4E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X.com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47DEE-1221-4B79-9FC2-7A157FA5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00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Evidence threads + corrections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99BF83-B40A-401E-AE6E-26797DA5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86250"/>
            <a:ext cx="304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5A50E6-D4BE-48DC-B156-DE82D9E0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57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Partners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6DC256-B113-4FAE-B496-BC778481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00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Pharmacists, sleep clinicians, skeptical health creators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E98492-7FBE-4F67-A10C-CD4CB459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017729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0A466E-FAB6-42CE-B8CC-5FA209B4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SOMNARY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5446D-3CED-4CAB-8E32-B268728D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Community should submit claims, not prescribe remedies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E5DC3-D32A-4606-8DE3-A0E09C7F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The safe community loop is evidence contribution, not treatment advice.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CB2FA-C628-4FD2-A786-73E7158C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9E4E5-F517-43D5-B225-8FFA45C6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14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546EE-62ED-464F-9059-1A9C7BFD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Submit a claim or product label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03EB6-DDC1-4AA3-B591-0DA0E831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F4F8E-48D5-46F6-A9E6-6756C8E7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Vote on what Somnary checks 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A31EB-A9FE-4829-9092-12E2545D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FA52C-C803-4DE3-89A4-885B02EF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Report unclear pages and corrections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C774A-6F08-4E23-A133-0ECFAFEC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2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772A0-BEDA-435C-BDE5-5E05CE4A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Share anecdotes only beside, never inside, evidence grades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709E9-3CC2-49F9-8778-A9ECC281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19400"/>
            <a:ext cx="34290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ED265-2457-42C2-B5FD-2B2B2C94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242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Avoid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E414B-4BD0-486D-A8F7-0850BB13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90950"/>
            <a:ext cx="257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Unmoderated advice threads, dosage guidance, supplement stacks, and disguised testimonials.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6BBDF-A387-4C3F-99AB-E39804D8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892547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9510CD-C54B-4CAD-AACD-AD97FC9E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SOMNARY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8602F-7A30-4535-A67C-CAA91DC0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The product roadmap should deepen checked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0159D-AB30-44E7-946C-CD5BB3F2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Build tools that make the evidence layer easier to 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5EEF9-42B7-4589-8155-D296F247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62584-E4E9-48F1-BB26-BE6C9BAC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952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1C69B-4B56-4FC8-B508-BA83478F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B279B-AF2B-48F8-87DE-DCED52B9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Start Here, Safety Hub, Melatonin Hub, newsletter, claim submission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7DE3A-45F0-460F-8C0A-14FC1239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86100"/>
            <a:ext cx="2952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01C45-F52B-4502-9604-B14C1AAF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528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0B0B"/>
                </a:solidFill>
              </a:defRPr>
            </a:pPr>
            <a:r>
              <a:rPr sz="2325" b="1">
                <a:solidFill>
                  <a:srgbClr val="0B0B0B"/>
                </a:solidFill>
              </a:rPr>
              <a:t>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A830C-26F8-4CBF-AFAF-1F172D21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862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Label checker MVP, compare tool, audience pages, clinician handouts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E6C6C-59C0-46E2-9D94-A160CB57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86100"/>
            <a:ext cx="2952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6B7CB-E0B9-4C95-B1F7-316C94C2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528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0B0B"/>
                </a:solidFill>
              </a:defRPr>
            </a:pPr>
            <a:r>
              <a:rPr sz="2325" b="1">
                <a:solidFill>
                  <a:srgbClr val="0B0B0B"/>
                </a:solidFill>
              </a:rPr>
              <a:t>Later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67B181-3659-4045-B049-7C9B5D9E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862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Scoped AI assistant, product QA, browser extension, public evidence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AADA4-1455-46E7-A337-317EF41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227689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07119E-62F0-41A9-9477-631F5413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SOMNARY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FD974-A2C0-4A38-83DE-384D4B2D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Risk controls are part of the product, not legal boilerplate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2FCC3-ACBF-4FF7-8082-4F978E27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Health-adjacent trust requires restraint before launch velocity.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2305E-C56E-4350-8F2F-D5183178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8B869-9903-4168-B931-77FD92D8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D7CF0-7730-4D19-A282-AD349E43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862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Source-backed claims only, including ads and social posts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CCD01-8294-4C69-A72F-19505A9A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7EE1E-7AC1-43EA-ACB8-9CE7CF0E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862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Clear medical boundary near decision moments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BA08F-442A-4742-8737-03D332F6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0A1C7-8463-4292-A2D0-06EE3CD7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862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No testimonials implying efficacy beyond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866CD-2632-4AA2-B6A1-2A6AF1AA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18A3D-C769-4A5A-8A0E-8EF00357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862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Disclosure for every collaboration or material connection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C91E0-F7B6-44B2-904A-DCB3AB55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57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6CD3B-A398-4AAC-A939-6EDE8AB2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72050"/>
            <a:ext cx="862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B"/>
                </a:solidFill>
              </a:defRPr>
            </a:pPr>
            <a:r>
              <a:rPr sz="1650" b="0">
                <a:solidFill>
                  <a:srgbClr val="0B0B0B"/>
                </a:solidFill>
              </a:rPr>
              <a:t>Legal review before product QA, paid partnerships, commerce, or personalized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1CEF8-CE3E-4C23-B4E6-F614CFA8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B0B"/>
                </a:solidFill>
              </a:defRPr>
            </a:pPr>
            <a:r>
              <a:rPr sz="2025" b="1">
                <a:solidFill>
                  <a:srgbClr val="0B0B0B"/>
                </a:solidFill>
              </a:rPr>
              <a:t>FTC, FDA, endorsement, AI, and medical-advice boundaries should be operational checklists.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7A9F2-B3CE-403D-90F2-F82BF965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299276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B7870A-696F-4E2F-965D-1967D601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SOMNARY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D6E41-10C8-4AB7-9304-AD361E37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B0B"/>
                </a:solidFill>
              </a:defRPr>
            </a:pPr>
            <a:r>
              <a:rPr sz="3225" b="1">
                <a:solidFill>
                  <a:srgbClr val="0B0B0B"/>
                </a:solidFill>
              </a:rPr>
              <a:t>The first 90 days should prove the wedge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B446F-ED7C-4D90-B027-F0C5455A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Own melatonin and sleep blends before expanding into broad sleep wellness.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88333-CCE5-42FA-9258-475BE712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624BA-7056-4F6F-B27A-350CF723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2762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FCED7-0678-4934-A724-B12F03AE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766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B0B"/>
                </a:solidFill>
              </a:defRPr>
            </a:pPr>
            <a:r>
              <a:rPr sz="2400" b="1">
                <a:solidFill>
                  <a:srgbClr val="0B0B0B"/>
                </a:solidFill>
              </a:rPr>
              <a:t>30 days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794B2-881D-4BDE-819C-3D323E05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052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Homepage routing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Start Here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Melatonin hub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Newsletter CTA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79932-D9D8-4054-B0F6-4DCE9230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9900"/>
            <a:ext cx="2762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BCABE-367B-4139-AD17-36A897D0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766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B0B"/>
                </a:solidFill>
              </a:defRPr>
            </a:pPr>
            <a:r>
              <a:rPr sz="2400" b="1">
                <a:solidFill>
                  <a:srgbClr val="0B0B0B"/>
                </a:solidFill>
              </a:rPr>
              <a:t>60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4B4D7-104D-4CB2-B047-88676F90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052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Audience pages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Label checker MVP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Compare pages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Channel templates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5968B-34B2-49B4-A9FB-DD469138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9900"/>
            <a:ext cx="2762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C89F3-BACE-4E7D-8913-1549A7C6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766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B0B"/>
                </a:solidFill>
              </a:defRPr>
            </a:pPr>
            <a:r>
              <a:rPr sz="2400" b="1">
                <a:solidFill>
                  <a:srgbClr val="0B0B0B"/>
                </a:solidFill>
              </a:rPr>
              <a:t>90 days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B1D4E-080E-45E7-8495-CAF3DB86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052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Scoped AI prototype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Clinician handouts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Collaboration pipeline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Paid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9D3B1-C208-4664-A633-E865816D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505486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412574-F008-442C-A465-E8F900CD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The 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50C67-7576-4DDD-BED6-1CA86753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B0B0B"/>
                </a:solidFill>
              </a:defRPr>
            </a:pPr>
            <a:r>
              <a:rPr sz="4200" b="1">
                <a:solidFill>
                  <a:srgbClr val="0B0B0B"/>
                </a:solidFill>
              </a:rPr>
              <a:t>Make Somnary the place people check before they take a sleep remedy.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4F47A-4038-497F-B35D-A1B4BF4D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000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454E4-E409-4D83-8973-41115D90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935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B0B0B"/>
                </a:solidFill>
              </a:defRPr>
            </a:pPr>
            <a:r>
              <a:rPr sz="2100" b="0">
                <a:solidFill>
                  <a:srgbClr val="0B0B0B"/>
                </a:solidFill>
              </a:rPr>
              <a:t>Do this by turning evidence discipline into product structure: decision-first IA, claim-check content, label tools, scoped AI, safety routing, and public editorial accountability.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4CAA4-F12D-40AC-B977-27EC4796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Strategic guardrail: if it makes Somnary more like supplement marketing, do not ship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C9977-7565-41AD-B426-05613882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63330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2026-07-04T23:51:38.1430000Z</dcterms:created>
  <dcterms:modified xsi:type="dcterms:W3CDTF">2026-07-04T23:51:38.1430000Z</dcterms:modified>
</coreProperties>
</file>